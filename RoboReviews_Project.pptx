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00"/>
  </p:normalViewPr>
  <p:slideViewPr>
    <p:cSldViewPr snapToGrid="0">
      <p:cViewPr varScale="1">
        <p:scale>
          <a:sx n="118" d="100"/>
          <a:sy n="118" d="100"/>
        </p:scale>
        <p:origin x="55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" name="Google Shape;3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" name="Google Shape;4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8" name="Google Shape;12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7" name="Google Shape;147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5" name="Google Shape;22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4" name="Google Shape;244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914400" y="1188720"/>
            <a:ext cx="640080" cy="640080"/>
          </a:xfrm>
          <a:prstGeom prst="ellipse">
            <a:avLst/>
          </a:prstGeom>
          <a:solidFill>
            <a:srgbClr val="F96167"/>
          </a:solidFill>
          <a:ln w="254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914400" y="11887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orgia"/>
              <a:buNone/>
            </a:pPr>
            <a:r>
              <a:rPr lang="en-US" sz="32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914400" y="2194560"/>
            <a:ext cx="1033272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Georgia"/>
              <a:buNone/>
            </a:pPr>
            <a:r>
              <a:rPr lang="en-US" sz="64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RoboReviews</a:t>
            </a:r>
            <a:endParaRPr sz="6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914400" y="4206240"/>
            <a:ext cx="1828800" cy="411480"/>
          </a:xfrm>
          <a:prstGeom prst="roundRect">
            <a:avLst>
              <a:gd name="adj" fmla="val 44444"/>
            </a:avLst>
          </a:prstGeom>
          <a:solidFill>
            <a:srgbClr val="3F5BAA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914400" y="420624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Sentiment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2926080" y="4206240"/>
            <a:ext cx="1828800" cy="411480"/>
          </a:xfrm>
          <a:prstGeom prst="roundRect">
            <a:avLst>
              <a:gd name="adj" fmla="val 44444"/>
            </a:avLst>
          </a:prstGeom>
          <a:solidFill>
            <a:srgbClr val="3F5BAA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2926080" y="420624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Clustering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4937760" y="4206240"/>
            <a:ext cx="1828800" cy="411480"/>
          </a:xfrm>
          <a:prstGeom prst="roundRect">
            <a:avLst>
              <a:gd name="adj" fmla="val 44444"/>
            </a:avLst>
          </a:prstGeom>
          <a:solidFill>
            <a:srgbClr val="3F5BAA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4937760" y="420624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Generative AI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6949440" y="4206240"/>
            <a:ext cx="1828800" cy="411480"/>
          </a:xfrm>
          <a:prstGeom prst="roundRect">
            <a:avLst>
              <a:gd name="adj" fmla="val 44444"/>
            </a:avLst>
          </a:prstGeom>
          <a:solidFill>
            <a:srgbClr val="3F5BAA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6949440" y="4206240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LoRA fine-tuning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914400" y="5212080"/>
            <a:ext cx="103327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João Santos</a:t>
            </a:r>
            <a:endParaRPr sz="2200" b="1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lang="en-US" sz="22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Harn Zhin Chong</a:t>
            </a:r>
            <a:endParaRPr sz="2200" b="1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914400" y="5767251"/>
            <a:ext cx="103327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0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Product Reviews Project · 2026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"/>
          <p:cNvSpPr/>
          <p:nvPr/>
        </p:nvSpPr>
        <p:spPr>
          <a:xfrm>
            <a:off x="640080" y="1645920"/>
            <a:ext cx="10972800" cy="3840480"/>
          </a:xfrm>
          <a:prstGeom prst="roundRect">
            <a:avLst>
              <a:gd name="adj" fmla="val 3571"/>
            </a:avLst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600"/>
              <a:buFont typeface="Georgia"/>
              <a:buNone/>
            </a:pPr>
            <a:r>
              <a:rPr lang="en-US" sz="56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46,538 reviews</a:t>
            </a:r>
            <a:endParaRPr sz="5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640080" y="278892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→  4 clean meta-categories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640080" y="352044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→  4 ready-to-publish recommendation articles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lang="en-US" sz="1300" b="0" i="1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Same base model (Qwen 2.5-1.5B) powers Tasks 1 and 3. Runs on a laptop.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10972800" y="664768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2 / 12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"/>
          <p:cNvSpPr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Three connected models, one coherent application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" name="Google Shape;49;p5" descr="/sessions/adoring-zealous-bell/mnt/outputs/deck/charts/08_pipeline_diagram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5760" y="1325880"/>
            <a:ext cx="11430000" cy="402336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5"/>
          <p:cNvSpPr/>
          <p:nvPr/>
        </p:nvSpPr>
        <p:spPr>
          <a:xfrm>
            <a:off x="365760" y="5532120"/>
            <a:ext cx="3703320" cy="9601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5"/>
          <p:cNvSpPr/>
          <p:nvPr/>
        </p:nvSpPr>
        <p:spPr>
          <a:xfrm>
            <a:off x="365760" y="5532120"/>
            <a:ext cx="91440" cy="960120"/>
          </a:xfrm>
          <a:prstGeom prst="rect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594360" y="557784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Connected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594360" y="598932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Each model's output feeds the next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4251960" y="5532120"/>
            <a:ext cx="3703320" cy="9601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4251960" y="5532120"/>
            <a:ext cx="91440" cy="960120"/>
          </a:xfrm>
          <a:prstGeom prst="rect">
            <a:avLst/>
          </a:prstGeom>
          <a:solidFill>
            <a:srgbClr val="3F5BAA"/>
          </a:solidFill>
          <a:ln w="12700" cap="flat" cmpd="sng">
            <a:solidFill>
              <a:srgbClr val="3F5BA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4480560" y="557784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Reusable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4480560" y="598932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Same Qwen backbone for Task 1 + 3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8138160" y="5532120"/>
            <a:ext cx="3703320" cy="9601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8138160" y="5532120"/>
            <a:ext cx="91440" cy="960120"/>
          </a:xfrm>
          <a:prstGeom prst="rect">
            <a:avLst/>
          </a:prstGeom>
          <a:solidFill>
            <a:srgbClr val="84B59F"/>
          </a:solidFill>
          <a:ln w="12700" cap="flat" cmpd="sng">
            <a:solidFill>
              <a:srgbClr val="84B5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8366760" y="557784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Honest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8366760" y="598932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Statistical tests, held-out reference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10972800" y="664768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3 / 12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"/>
          <p:cNvSpPr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Methods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Dataset · preprocessing · evaluation strategy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" name="Google Shape;71;p6" descr="/sessions/adoring-zealous-bell/mnt/outputs/deck/charts/01_sentiment_distribution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4320" y="1371600"/>
            <a:ext cx="5943600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6"/>
          <p:cNvSpPr/>
          <p:nvPr/>
        </p:nvSpPr>
        <p:spPr>
          <a:xfrm>
            <a:off x="6492240" y="137160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6"/>
          <p:cNvSpPr/>
          <p:nvPr/>
        </p:nvSpPr>
        <p:spPr>
          <a:xfrm>
            <a:off x="6675120" y="1417320"/>
            <a:ext cx="27432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600"/>
              <a:buFont typeface="Georgia"/>
              <a:buNone/>
            </a:pPr>
            <a:r>
              <a:rPr lang="en-US" sz="3600" b="1" i="0" u="none" strike="noStrike" cap="non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9418320" y="1417320"/>
            <a:ext cx="22860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datasets merged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6492240" y="269748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6"/>
          <p:cNvSpPr/>
          <p:nvPr/>
        </p:nvSpPr>
        <p:spPr>
          <a:xfrm>
            <a:off x="6675120" y="2743200"/>
            <a:ext cx="27432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600"/>
              <a:buFont typeface="Georgia"/>
              <a:buNone/>
            </a:pPr>
            <a:r>
              <a:rPr lang="en-US" sz="3600" b="1" i="0" u="none" strike="noStrike" cap="non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46,538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9418320" y="2743200"/>
            <a:ext cx="22860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rows after de</a:t>
            </a:r>
            <a:r>
              <a:rPr lang="en-US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lete duplicated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6492240" y="4023360"/>
            <a:ext cx="53035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6"/>
          <p:cNvSpPr/>
          <p:nvPr/>
        </p:nvSpPr>
        <p:spPr>
          <a:xfrm>
            <a:off x="6675120" y="4069080"/>
            <a:ext cx="27432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600"/>
              <a:buFont typeface="Georgia"/>
              <a:buNone/>
            </a:pPr>
            <a:r>
              <a:rPr lang="en-US" sz="3600" b="1" i="0" u="none" strike="noStrike" cap="non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37,230 / 9,308</a:t>
            </a:r>
            <a:endParaRPr sz="3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9418320" y="4069080"/>
            <a:ext cx="2286000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Calibri"/>
              <a:buNone/>
            </a:pPr>
            <a:r>
              <a:rPr lang="en-US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split</a:t>
            </a:r>
            <a:r>
              <a:rPr lang="en-US" sz="14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 train/test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274320" y="56692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Preprocessing pipeline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274320" y="5989320"/>
            <a:ext cx="2194560" cy="548640"/>
          </a:xfrm>
          <a:prstGeom prst="roundRect">
            <a:avLst>
              <a:gd name="adj" fmla="val 25000"/>
            </a:avLst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6"/>
          <p:cNvSpPr/>
          <p:nvPr/>
        </p:nvSpPr>
        <p:spPr>
          <a:xfrm>
            <a:off x="274320" y="598932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Merge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2468880" y="5989320"/>
            <a:ext cx="1371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2606040" y="5989320"/>
            <a:ext cx="2194560" cy="548640"/>
          </a:xfrm>
          <a:prstGeom prst="roundRect">
            <a:avLst>
              <a:gd name="adj" fmla="val 25000"/>
            </a:avLst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2606040" y="598932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Delete duplicated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4800600" y="5989320"/>
            <a:ext cx="1371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4937760" y="5989320"/>
            <a:ext cx="2194560" cy="548640"/>
          </a:xfrm>
          <a:prstGeom prst="roundRect">
            <a:avLst>
              <a:gd name="adj" fmla="val 25000"/>
            </a:avLst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4937760" y="598932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Clean text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7132320" y="5989320"/>
            <a:ext cx="1371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7269480" y="5989320"/>
            <a:ext cx="2194560" cy="548640"/>
          </a:xfrm>
          <a:prstGeom prst="roundRect">
            <a:avLst>
              <a:gd name="adj" fmla="val 25000"/>
            </a:avLst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7269480" y="598932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Rating → label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9464040" y="5989320"/>
            <a:ext cx="1371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9601200" y="5989320"/>
            <a:ext cx="2194560" cy="548640"/>
          </a:xfrm>
          <a:prstGeom prst="roundRect">
            <a:avLst>
              <a:gd name="adj" fmla="val 25000"/>
            </a:avLst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9601200" y="598932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split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10972800" y="664768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4 / 12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"/>
          <p:cNvSpPr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Model 1 — Sentiment Classification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Classify reviews as positive, neutral, or negative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365760" y="1417320"/>
            <a:ext cx="5486400" cy="50749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7"/>
          <p:cNvSpPr/>
          <p:nvPr/>
        </p:nvSpPr>
        <p:spPr>
          <a:xfrm>
            <a:off x="365760" y="1417320"/>
            <a:ext cx="91440" cy="5074920"/>
          </a:xfrm>
          <a:prstGeom prst="rect">
            <a:avLst/>
          </a:prstGeom>
          <a:solidFill>
            <a:srgbClr val="F96167"/>
          </a:solidFill>
          <a:ln w="12700" cap="flat" cmpd="sng">
            <a:solidFill>
              <a:srgbClr val="F961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7"/>
          <p:cNvSpPr/>
          <p:nvPr/>
        </p:nvSpPr>
        <p:spPr>
          <a:xfrm>
            <a:off x="640080" y="150876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The challenge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640080" y="1965960"/>
            <a:ext cx="5029200" cy="4206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Char char="•"/>
            </a:pPr>
            <a:r>
              <a:rPr lang="en-US" sz="14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92% positive class — heavy imbalance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120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Rating-based labels are noisy: low-rating customers often write 'love it'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120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Neutral class is hard — overlaps with both ends of the spectrum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120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Goal: produce a usable label for downstream Tasks 2 &amp; 3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6126480" y="1417320"/>
            <a:ext cx="5669280" cy="15087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6263640" y="1737360"/>
            <a:ext cx="868680" cy="868680"/>
          </a:xfrm>
          <a:prstGeom prst="ellipse">
            <a:avLst/>
          </a:prstGeom>
          <a:solidFill>
            <a:srgbClr val="475569"/>
          </a:solidFill>
          <a:ln w="12700" cap="flat" cmpd="sng">
            <a:solidFill>
              <a:srgbClr val="47556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6263640" y="1737360"/>
            <a:ext cx="86868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7269480" y="1691640"/>
            <a:ext cx="4389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Zero-Shot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7269480" y="2194560"/>
            <a:ext cx="4389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lang="en-US" sz="1300" b="0" i="1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Plain prompt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6126480" y="3108960"/>
            <a:ext cx="5669280" cy="15087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6263640" y="3429000"/>
            <a:ext cx="868680" cy="868680"/>
          </a:xfrm>
          <a:prstGeom prst="ellipse">
            <a:avLst/>
          </a:prstGeom>
          <a:solidFill>
            <a:srgbClr val="3F5BAA"/>
          </a:solidFill>
          <a:ln w="12700" cap="flat" cmpd="sng">
            <a:solidFill>
              <a:srgbClr val="3F5BA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7"/>
          <p:cNvSpPr/>
          <p:nvPr/>
        </p:nvSpPr>
        <p:spPr>
          <a:xfrm>
            <a:off x="6263640" y="3429000"/>
            <a:ext cx="86868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7269480" y="3383280"/>
            <a:ext cx="4389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N-Shot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7269480" y="3886200"/>
            <a:ext cx="4389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lang="en-US" sz="1300" b="0" i="1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8 in-context examples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6126480" y="4800600"/>
            <a:ext cx="5669280" cy="150876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6263640" y="5120640"/>
            <a:ext cx="868680" cy="868680"/>
          </a:xfrm>
          <a:prstGeom prst="ellipse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6263640" y="5120640"/>
            <a:ext cx="86868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7269480" y="5074920"/>
            <a:ext cx="4389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LoRA fine-tune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7269480" y="5577840"/>
            <a:ext cx="43891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lang="en-US" sz="1300" b="0" i="1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1500 balanced examples · r=8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10972800" y="664768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5 / 12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"/>
          <p:cNvSpPr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Model 1 — Evaluation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LoRA wins, and the gain is statistically real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" name="Google Shape;133;p8" descr="/sessions/adoring-zealous-bell/mnt/outputs/deck/charts/02_task1_comparison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8445" y="1348743"/>
            <a:ext cx="7040880" cy="39319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8" descr="/sessions/adoring-zealous-bell/mnt/outputs/deck/charts/03_lora_confusion_matrix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89520" y="1325880"/>
            <a:ext cx="4297680" cy="393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8"/>
          <p:cNvSpPr/>
          <p:nvPr/>
        </p:nvSpPr>
        <p:spPr>
          <a:xfrm>
            <a:off x="365745" y="5440675"/>
            <a:ext cx="5600100" cy="1051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8"/>
          <p:cNvSpPr/>
          <p:nvPr/>
        </p:nvSpPr>
        <p:spPr>
          <a:xfrm>
            <a:off x="365760" y="5440680"/>
            <a:ext cx="91440" cy="1051560"/>
          </a:xfrm>
          <a:prstGeom prst="rect">
            <a:avLst/>
          </a:prstGeom>
          <a:solidFill>
            <a:srgbClr val="84B59F"/>
          </a:solidFill>
          <a:ln w="12700" cap="flat" cmpd="sng">
            <a:solidFill>
              <a:srgbClr val="84B5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8"/>
          <p:cNvSpPr/>
          <p:nvPr/>
        </p:nvSpPr>
        <p:spPr>
          <a:xfrm>
            <a:off x="548640" y="548640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Georgia"/>
              <a:buNone/>
            </a:pPr>
            <a:r>
              <a:rPr lang="en-US" sz="2600" b="1" i="0" u="none" strike="noStrike" cap="non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+6 pts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548640" y="6035040"/>
            <a:ext cx="347472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accuracy gain (LoRA)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6101669" y="5429250"/>
            <a:ext cx="5785500" cy="10515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8"/>
          <p:cNvSpPr/>
          <p:nvPr/>
        </p:nvSpPr>
        <p:spPr>
          <a:xfrm>
            <a:off x="6101685" y="5429243"/>
            <a:ext cx="91500" cy="1051500"/>
          </a:xfrm>
          <a:prstGeom prst="rect">
            <a:avLst/>
          </a:prstGeom>
          <a:solidFill>
            <a:srgbClr val="F96167"/>
          </a:solidFill>
          <a:ln w="12700" cap="flat" cmpd="sng">
            <a:solidFill>
              <a:srgbClr val="F961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8"/>
          <p:cNvSpPr/>
          <p:nvPr/>
        </p:nvSpPr>
        <p:spPr>
          <a:xfrm>
            <a:off x="6284565" y="5474963"/>
            <a:ext cx="3474600" cy="5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Georgia"/>
              <a:buNone/>
            </a:pPr>
            <a:r>
              <a:rPr lang="en-US" sz="2600" b="1" i="0" u="none" strike="noStrike" cap="non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+0.23 F1</a:t>
            </a:r>
            <a:endParaRPr sz="2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6284565" y="6023603"/>
            <a:ext cx="34746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neutral class recovery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8"/>
          <p:cNvSpPr/>
          <p:nvPr/>
        </p:nvSpPr>
        <p:spPr>
          <a:xfrm>
            <a:off x="10972800" y="664768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6 / 12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"/>
          <p:cNvSpPr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Model 2 — Category Clustering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Compress noisy product taxonomy into 4–6 meta-categories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9"/>
          <p:cNvSpPr/>
          <p:nvPr/>
        </p:nvSpPr>
        <p:spPr>
          <a:xfrm>
            <a:off x="365760" y="1417320"/>
            <a:ext cx="5486400" cy="507492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9"/>
          <p:cNvSpPr/>
          <p:nvPr/>
        </p:nvSpPr>
        <p:spPr>
          <a:xfrm>
            <a:off x="365760" y="1417320"/>
            <a:ext cx="91440" cy="5074920"/>
          </a:xfrm>
          <a:prstGeom prst="rect">
            <a:avLst/>
          </a:prstGeom>
          <a:solidFill>
            <a:srgbClr val="F96167"/>
          </a:solidFill>
          <a:ln w="12700" cap="flat" cmpd="sng">
            <a:solidFill>
              <a:srgbClr val="F961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9"/>
          <p:cNvSpPr/>
          <p:nvPr/>
        </p:nvSpPr>
        <p:spPr>
          <a:xfrm>
            <a:off x="640080" y="150876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The challenge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640080" y="1965960"/>
            <a:ext cx="5029200" cy="4206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Many fragmented sub-categories in raw data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120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Need 4–6 broad groups for downstream article generation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120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Calibri"/>
              <a:buChar char="•"/>
            </a:pPr>
            <a:r>
              <a:rPr lang="en-US" sz="14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Unsupervised — no ground-truth labels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120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Char char="•"/>
            </a:pPr>
            <a:r>
              <a:rPr lang="en-US" sz="14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Trade-off: math-optimal K vs business-readable K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6126480" y="1417320"/>
            <a:ext cx="5669280" cy="23774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9"/>
          <p:cNvSpPr/>
          <p:nvPr/>
        </p:nvSpPr>
        <p:spPr>
          <a:xfrm>
            <a:off x="6126480" y="1417320"/>
            <a:ext cx="5669280" cy="502920"/>
          </a:xfrm>
          <a:prstGeom prst="rect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9"/>
          <p:cNvSpPr/>
          <p:nvPr/>
        </p:nvSpPr>
        <p:spPr>
          <a:xfrm>
            <a:off x="6263640" y="1463040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Option A — TF-IDF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6309360" y="20116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lang="en-US" sz="1300" b="0" i="1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Bag-of-words baseline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6309360" y="2423160"/>
            <a:ext cx="548640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Fast, interpretable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5,000-feature vectorizer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6126480" y="4023360"/>
            <a:ext cx="5669280" cy="237744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9"/>
          <p:cNvSpPr/>
          <p:nvPr/>
        </p:nvSpPr>
        <p:spPr>
          <a:xfrm>
            <a:off x="6126480" y="4023360"/>
            <a:ext cx="5669280" cy="502920"/>
          </a:xfrm>
          <a:prstGeom prst="rect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9"/>
          <p:cNvSpPr/>
          <p:nvPr/>
        </p:nvSpPr>
        <p:spPr>
          <a:xfrm>
            <a:off x="6263640" y="4069080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Option B — Sentence Embeddings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6309360" y="46177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300"/>
              <a:buFont typeface="Calibri"/>
              <a:buNone/>
            </a:pPr>
            <a:r>
              <a:rPr lang="en-US" sz="1300" b="0" i="1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all-MiniLM-L6-v2 + KMeans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6309360" y="5029200"/>
            <a:ext cx="548640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Captures semantic similarity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384-dim vectors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9"/>
          <p:cNvSpPr/>
          <p:nvPr/>
        </p:nvSpPr>
        <p:spPr>
          <a:xfrm>
            <a:off x="10972800" y="664768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7 / 12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173;p10" title="output.png">
            <a:extLst>
              <a:ext uri="{FF2B5EF4-FFF2-40B4-BE49-F238E27FC236}">
                <a16:creationId xmlns:a16="http://schemas.microsoft.com/office/drawing/2014/main" id="{0215CBF3-DADE-DF0A-FB5B-74EC7019A9E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880" y="3628699"/>
            <a:ext cx="11887200" cy="23606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1"/>
          <p:cNvSpPr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Model 2 — Evaluation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1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Sentence embeddings won. Then we picked K=4 for humans.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1" name="Google Shape;181;p11" descr="/sessions/adoring-zealous-bell/mnt/outputs/deck/charts/04_clustering_silhouett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4320" y="1325880"/>
            <a:ext cx="5212080" cy="393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1"/>
          <p:cNvSpPr/>
          <p:nvPr/>
        </p:nvSpPr>
        <p:spPr>
          <a:xfrm>
            <a:off x="365760" y="5486400"/>
            <a:ext cx="2788920" cy="105156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1"/>
          <p:cNvSpPr/>
          <p:nvPr/>
        </p:nvSpPr>
        <p:spPr>
          <a:xfrm>
            <a:off x="457200" y="5577840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Accessories / Batteries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1"/>
          <p:cNvSpPr/>
          <p:nvPr/>
        </p:nvSpPr>
        <p:spPr>
          <a:xfrm>
            <a:off x="457200" y="5989320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19,254</a:t>
            </a:r>
            <a:r>
              <a:rPr lang="en-U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reviews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1"/>
          <p:cNvSpPr/>
          <p:nvPr/>
        </p:nvSpPr>
        <p:spPr>
          <a:xfrm>
            <a:off x="3291840" y="5486400"/>
            <a:ext cx="2788920" cy="1051560"/>
          </a:xfrm>
          <a:prstGeom prst="roundRect">
            <a:avLst>
              <a:gd name="adj" fmla="val 8696"/>
            </a:avLst>
          </a:prstGeom>
          <a:solidFill>
            <a:srgbClr val="2C3E72"/>
          </a:solidFill>
          <a:ln w="12700" cap="flat" cmpd="sng">
            <a:solidFill>
              <a:srgbClr val="2C3E7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1"/>
          <p:cNvSpPr/>
          <p:nvPr/>
        </p:nvSpPr>
        <p:spPr>
          <a:xfrm>
            <a:off x="3383280" y="5577840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Kindle / E-Reader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1"/>
          <p:cNvSpPr/>
          <p:nvPr/>
        </p:nvSpPr>
        <p:spPr>
          <a:xfrm>
            <a:off x="3383280" y="5989320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15,415</a:t>
            </a:r>
            <a:r>
              <a:rPr lang="en-U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reviews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1"/>
          <p:cNvSpPr/>
          <p:nvPr/>
        </p:nvSpPr>
        <p:spPr>
          <a:xfrm>
            <a:off x="6217920" y="5486400"/>
            <a:ext cx="2788920" cy="1051560"/>
          </a:xfrm>
          <a:prstGeom prst="roundRect">
            <a:avLst>
              <a:gd name="adj" fmla="val 8696"/>
            </a:avLst>
          </a:prstGeom>
          <a:solidFill>
            <a:srgbClr val="3F5BAA"/>
          </a:solidFill>
          <a:ln w="12700" cap="flat" cmpd="sng">
            <a:solidFill>
              <a:srgbClr val="3F5BA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1"/>
          <p:cNvSpPr/>
          <p:nvPr/>
        </p:nvSpPr>
        <p:spPr>
          <a:xfrm>
            <a:off x="6309360" y="5577840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Tablet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1"/>
          <p:cNvSpPr/>
          <p:nvPr/>
        </p:nvSpPr>
        <p:spPr>
          <a:xfrm>
            <a:off x="6309360" y="5989320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,556</a:t>
            </a:r>
            <a:r>
              <a:rPr lang="en-U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reviews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1"/>
          <p:cNvSpPr/>
          <p:nvPr/>
        </p:nvSpPr>
        <p:spPr>
          <a:xfrm>
            <a:off x="9144000" y="5486400"/>
            <a:ext cx="2788920" cy="1051560"/>
          </a:xfrm>
          <a:prstGeom prst="roundRect">
            <a:avLst>
              <a:gd name="adj" fmla="val 8696"/>
            </a:avLst>
          </a:prstGeom>
          <a:solidFill>
            <a:srgbClr val="5A7BD9"/>
          </a:solidFill>
          <a:ln w="12700" cap="flat" cmpd="sng">
            <a:solidFill>
              <a:srgbClr val="5A7BD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1"/>
          <p:cNvSpPr/>
          <p:nvPr/>
        </p:nvSpPr>
        <p:spPr>
          <a:xfrm>
            <a:off x="9235440" y="5577840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Smart Home &amp; Audio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1"/>
          <p:cNvSpPr/>
          <p:nvPr/>
        </p:nvSpPr>
        <p:spPr>
          <a:xfrm>
            <a:off x="9235440" y="5989320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4,</a:t>
            </a: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313</a:t>
            </a:r>
            <a:r>
              <a:rPr lang="en-US" sz="13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reviews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1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1"/>
          <p:cNvSpPr/>
          <p:nvPr/>
        </p:nvSpPr>
        <p:spPr>
          <a:xfrm>
            <a:off x="10972800" y="664768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8 / 12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6" name="Google Shape;196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38800" y="1341120"/>
            <a:ext cx="6394249" cy="3992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2"/>
          <p:cNvSpPr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Model 3 — Article Generation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2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From cluster profile to a publishable recommendation article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4" name="Google Shape;204;p12" descr="/sessions/adoring-zealous-bell/mnt/outputs/deck/charts/09_self_distillation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5760" y="1280160"/>
            <a:ext cx="11430000" cy="384048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2"/>
          <p:cNvSpPr/>
          <p:nvPr/>
        </p:nvSpPr>
        <p:spPr>
          <a:xfrm>
            <a:off x="365760" y="5303520"/>
            <a:ext cx="2788920" cy="10972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2"/>
          <p:cNvSpPr/>
          <p:nvPr/>
        </p:nvSpPr>
        <p:spPr>
          <a:xfrm>
            <a:off x="365760" y="5303520"/>
            <a:ext cx="91440" cy="1097280"/>
          </a:xfrm>
          <a:prstGeom prst="rect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2"/>
          <p:cNvSpPr/>
          <p:nvPr/>
        </p:nvSpPr>
        <p:spPr>
          <a:xfrm>
            <a:off x="548640" y="5349240"/>
            <a:ext cx="2606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Base model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2"/>
          <p:cNvSpPr/>
          <p:nvPr/>
        </p:nvSpPr>
        <p:spPr>
          <a:xfrm>
            <a:off x="548640" y="5650992"/>
            <a:ext cx="260604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Qwen 2.5-1.5B-Instruct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2"/>
          <p:cNvSpPr/>
          <p:nvPr/>
        </p:nvSpPr>
        <p:spPr>
          <a:xfrm>
            <a:off x="3291840" y="5303520"/>
            <a:ext cx="2788920" cy="10972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2"/>
          <p:cNvSpPr/>
          <p:nvPr/>
        </p:nvSpPr>
        <p:spPr>
          <a:xfrm>
            <a:off x="3291840" y="5303520"/>
            <a:ext cx="91440" cy="1097280"/>
          </a:xfrm>
          <a:prstGeom prst="rect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2"/>
          <p:cNvSpPr/>
          <p:nvPr/>
        </p:nvSpPr>
        <p:spPr>
          <a:xfrm>
            <a:off x="3474720" y="5349240"/>
            <a:ext cx="2606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Adapter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2"/>
          <p:cNvSpPr/>
          <p:nvPr/>
        </p:nvSpPr>
        <p:spPr>
          <a:xfrm>
            <a:off x="3474720" y="5650992"/>
            <a:ext cx="260604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LoRA r=16 · q/k/v/o_proj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2"/>
          <p:cNvSpPr/>
          <p:nvPr/>
        </p:nvSpPr>
        <p:spPr>
          <a:xfrm>
            <a:off x="6217920" y="5303520"/>
            <a:ext cx="2788920" cy="10972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2"/>
          <p:cNvSpPr/>
          <p:nvPr/>
        </p:nvSpPr>
        <p:spPr>
          <a:xfrm>
            <a:off x="6217920" y="5303520"/>
            <a:ext cx="91440" cy="1097280"/>
          </a:xfrm>
          <a:prstGeom prst="rect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2"/>
          <p:cNvSpPr/>
          <p:nvPr/>
        </p:nvSpPr>
        <p:spPr>
          <a:xfrm>
            <a:off x="6400800" y="5349240"/>
            <a:ext cx="2606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Training data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2"/>
          <p:cNvSpPr/>
          <p:nvPr/>
        </p:nvSpPr>
        <p:spPr>
          <a:xfrm>
            <a:off x="6400800" y="5650992"/>
            <a:ext cx="260604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Self-distilled references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(4 categories)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2"/>
          <p:cNvSpPr/>
          <p:nvPr/>
        </p:nvSpPr>
        <p:spPr>
          <a:xfrm>
            <a:off x="9144000" y="5303520"/>
            <a:ext cx="2788920" cy="10972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2"/>
          <p:cNvSpPr/>
          <p:nvPr/>
        </p:nvSpPr>
        <p:spPr>
          <a:xfrm>
            <a:off x="9144000" y="5303520"/>
            <a:ext cx="91440" cy="1097280"/>
          </a:xfrm>
          <a:prstGeom prst="rect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2"/>
          <p:cNvSpPr/>
          <p:nvPr/>
        </p:nvSpPr>
        <p:spPr>
          <a:xfrm>
            <a:off x="9326880" y="5349240"/>
            <a:ext cx="2606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Eval metric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2"/>
          <p:cNvSpPr/>
          <p:nvPr/>
        </p:nvSpPr>
        <p:spPr>
          <a:xfrm>
            <a:off x="9326880" y="5650992"/>
            <a:ext cx="2606040" cy="713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ROUGE-1 / 2 / L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vs held-out reviews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2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2"/>
          <p:cNvSpPr/>
          <p:nvPr/>
        </p:nvSpPr>
        <p:spPr>
          <a:xfrm>
            <a:off x="10972800" y="664768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9 / 12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3"/>
          <p:cNvSpPr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Model 3 — Evaluation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3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Mixed picture: gains on 2 of 4 categories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3"/>
          <p:cNvSpPr/>
          <p:nvPr/>
        </p:nvSpPr>
        <p:spPr>
          <a:xfrm>
            <a:off x="8229600" y="1325880"/>
            <a:ext cx="3657600" cy="4114800"/>
          </a:xfrm>
          <a:prstGeom prst="rect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3"/>
          <p:cNvSpPr/>
          <p:nvPr/>
        </p:nvSpPr>
        <p:spPr>
          <a:xfrm>
            <a:off x="8412480" y="141732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Honest read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3"/>
          <p:cNvSpPr/>
          <p:nvPr/>
        </p:nvSpPr>
        <p:spPr>
          <a:xfrm>
            <a:off x="8271680" y="1783070"/>
            <a:ext cx="3383400" cy="35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Char char="•"/>
            </a:pPr>
            <a:r>
              <a:rPr lang="en-US" dirty="0">
                <a:solidFill>
                  <a:schemeClr val="lt1"/>
                </a:solidFill>
              </a:rPr>
              <a:t>Average ROUGE-L decreased from 0.191 to 0.166 (-0.025 pts)</a:t>
            </a:r>
            <a:endParaRPr dirty="0">
              <a:solidFill>
                <a:schemeClr val="lt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Char char="•"/>
            </a:pPr>
            <a:r>
              <a:rPr lang="en-US" dirty="0">
                <a:solidFill>
                  <a:schemeClr val="lt1"/>
                </a:solidFill>
              </a:rPr>
              <a:t>All 4 categories scored lower after generator </a:t>
            </a:r>
            <a:r>
              <a:rPr lang="en-US" dirty="0" err="1">
                <a:solidFill>
                  <a:schemeClr val="lt1"/>
                </a:solidFill>
              </a:rPr>
              <a:t>LoRA</a:t>
            </a:r>
            <a:r>
              <a:rPr lang="en-US" dirty="0">
                <a:solidFill>
                  <a:schemeClr val="lt1"/>
                </a:solidFill>
              </a:rPr>
              <a:t> in this rerun</a:t>
            </a:r>
            <a:endParaRPr dirty="0">
              <a:solidFill>
                <a:schemeClr val="lt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Char char="•"/>
            </a:pPr>
            <a:r>
              <a:rPr lang="en-US" dirty="0">
                <a:solidFill>
                  <a:schemeClr val="lt1"/>
                </a:solidFill>
              </a:rPr>
              <a:t>Grounding checks: 0 hallucination flags; average product grounding 75%</a:t>
            </a:r>
            <a:endParaRPr dirty="0">
              <a:solidFill>
                <a:schemeClr val="lt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Calibri"/>
              <a:buChar char="•"/>
            </a:pPr>
            <a:r>
              <a:rPr lang="en-US" dirty="0">
                <a:solidFill>
                  <a:schemeClr val="lt1"/>
                </a:solidFill>
              </a:rPr>
              <a:t>Interpretation: fine-tuning changed wording/structure but did not improve lexical overlap</a:t>
            </a:r>
            <a:endParaRPr sz="1200" dirty="0">
              <a:solidFill>
                <a:srgbClr val="84B59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3"/>
          <p:cNvSpPr/>
          <p:nvPr/>
        </p:nvSpPr>
        <p:spPr>
          <a:xfrm>
            <a:off x="365760" y="5577840"/>
            <a:ext cx="11430000" cy="91440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3"/>
          <p:cNvSpPr/>
          <p:nvPr/>
        </p:nvSpPr>
        <p:spPr>
          <a:xfrm>
            <a:off x="548640" y="5715000"/>
            <a:ext cx="4114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Average ROUGE across all categories →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3"/>
          <p:cNvSpPr/>
          <p:nvPr/>
        </p:nvSpPr>
        <p:spPr>
          <a:xfrm>
            <a:off x="4754880" y="5715000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2200"/>
              <a:buFont typeface="Georgia"/>
              <a:buNone/>
            </a:pPr>
            <a:r>
              <a:rPr lang="en-US" sz="2200" b="1" i="0" u="none" strike="noStrike" cap="none" dirty="0">
                <a:solidFill>
                  <a:srgbClr val="475569"/>
                </a:solidFill>
                <a:latin typeface="Georgia"/>
                <a:ea typeface="Georgia"/>
                <a:cs typeface="Georgia"/>
                <a:sym typeface="Georgia"/>
              </a:rPr>
              <a:t>Base 0.1</a:t>
            </a:r>
            <a:r>
              <a:rPr lang="en-US" sz="2200" b="1" dirty="0">
                <a:solidFill>
                  <a:srgbClr val="475569"/>
                </a:solidFill>
                <a:latin typeface="Georgia"/>
                <a:ea typeface="Georgia"/>
                <a:cs typeface="Georgia"/>
                <a:sym typeface="Georgia"/>
              </a:rPr>
              <a:t>91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3"/>
          <p:cNvSpPr/>
          <p:nvPr/>
        </p:nvSpPr>
        <p:spPr>
          <a:xfrm>
            <a:off x="6949440" y="5715000"/>
            <a:ext cx="457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Calibri"/>
              <a:buNone/>
            </a:pPr>
            <a:r>
              <a:rPr lang="en-US" sz="22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3"/>
          <p:cNvSpPr/>
          <p:nvPr/>
        </p:nvSpPr>
        <p:spPr>
          <a:xfrm>
            <a:off x="7406640" y="571500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200"/>
              <a:buFont typeface="Georgia"/>
              <a:buNone/>
            </a:pPr>
            <a:r>
              <a:rPr lang="en-US" sz="2200" b="1" i="0" u="none" strike="noStrike" cap="none" dirty="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Fine-tuned 0.1</a:t>
            </a:r>
            <a:r>
              <a:rPr lang="en-US" sz="2200" b="1" dirty="0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66</a:t>
            </a:r>
            <a:endParaRPr sz="2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3"/>
          <p:cNvSpPr/>
          <p:nvPr/>
        </p:nvSpPr>
        <p:spPr>
          <a:xfrm>
            <a:off x="10058400" y="5715000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Calibri"/>
              <a:buNone/>
            </a:pPr>
            <a:r>
              <a:rPr lang="en-US" sz="1400" b="0" i="1" u="none" strike="noStrike" cap="none" dirty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(-</a:t>
            </a:r>
            <a:r>
              <a:rPr lang="en-US" i="1" dirty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2.5 pts</a:t>
            </a:r>
            <a:r>
              <a:rPr lang="en-US" sz="1400" b="0" i="1" u="none" strike="noStrike" cap="none" dirty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3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3"/>
          <p:cNvSpPr/>
          <p:nvPr/>
        </p:nvSpPr>
        <p:spPr>
          <a:xfrm>
            <a:off x="10972800" y="664768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10 / 12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1" name="Google Shape;24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625" y="1535895"/>
            <a:ext cx="7924800" cy="36947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4"/>
          <p:cNvSpPr/>
          <p:nvPr/>
        </p:nvSpPr>
        <p:spPr>
          <a:xfrm>
            <a:off x="457200" y="274320"/>
            <a:ext cx="112471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libri"/>
              <a:buNone/>
            </a:pPr>
            <a:r>
              <a:rPr lang="en-US" sz="30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Takeaway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4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What we built, what worked, what didn't — and the medal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4"/>
          <p:cNvSpPr/>
          <p:nvPr/>
        </p:nvSpPr>
        <p:spPr>
          <a:xfrm>
            <a:off x="365760" y="4709160"/>
            <a:ext cx="5577840" cy="17830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51" name="Google Shape;251;p14"/>
          <p:cNvSpPr/>
          <p:nvPr/>
        </p:nvSpPr>
        <p:spPr>
          <a:xfrm>
            <a:off x="365760" y="4709160"/>
            <a:ext cx="91440" cy="1783080"/>
          </a:xfrm>
          <a:prstGeom prst="rect">
            <a:avLst/>
          </a:prstGeom>
          <a:solidFill>
            <a:srgbClr val="84B59F"/>
          </a:solidFill>
          <a:ln w="12700" cap="flat" cmpd="sng">
            <a:solidFill>
              <a:srgbClr val="84B59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4"/>
          <p:cNvSpPr/>
          <p:nvPr/>
        </p:nvSpPr>
        <p:spPr>
          <a:xfrm>
            <a:off x="640080" y="4754880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What worked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4"/>
          <p:cNvSpPr/>
          <p:nvPr/>
        </p:nvSpPr>
        <p:spPr>
          <a:xfrm>
            <a:off x="640080" y="5074920"/>
            <a:ext cx="512064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Calibri"/>
              <a:buChar char="•"/>
            </a:pPr>
            <a:r>
              <a:rPr lang="en-US" sz="1150" b="0" i="0" u="none" strike="noStrike" cap="none" dirty="0" err="1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LoRA</a:t>
            </a:r>
            <a:r>
              <a:rPr lang="en-US" sz="1150" b="0" i="0" u="none" strike="noStrike" cap="none" dirty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 → +6 pts accuracy, statistically significant</a:t>
            </a: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Calibri"/>
              <a:buChar char="•"/>
            </a:pPr>
            <a:r>
              <a:rPr lang="en-US" sz="1150" b="0" i="0" u="none" strike="noStrike" cap="none" dirty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Strict no-leakage train/test split + handoff checks</a:t>
            </a:r>
          </a:p>
          <a:p>
            <a:pPr marL="342900" lvl="0" indent="-342900">
              <a:spcBef>
                <a:spcPts val="400"/>
              </a:spcBef>
              <a:buClr>
                <a:srgbClr val="475569"/>
              </a:buClr>
              <a:buSzPts val="1150"/>
              <a:buFont typeface="Calibri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/>
                <a:cs typeface="Calibri"/>
              </a:rPr>
              <a:t>K=4 categories were usable</a:t>
            </a:r>
          </a:p>
          <a:p>
            <a:pPr marL="342900" lvl="0" indent="-342900">
              <a:spcBef>
                <a:spcPts val="400"/>
              </a:spcBef>
              <a:buClr>
                <a:srgbClr val="475569"/>
              </a:buClr>
              <a:buSzPts val="1150"/>
              <a:buFont typeface="Calibri"/>
              <a:buChar char="•"/>
            </a:pPr>
            <a:r>
              <a:rPr lang="en-US" sz="1150" dirty="0" err="1">
                <a:solidFill>
                  <a:srgbClr val="475569"/>
                </a:solidFill>
                <a:latin typeface="Calibri"/>
                <a:cs typeface="Calibri"/>
              </a:rPr>
              <a:t>Gradio</a:t>
            </a:r>
            <a:r>
              <a:rPr lang="en-US" sz="1150" dirty="0">
                <a:solidFill>
                  <a:srgbClr val="475569"/>
                </a:solidFill>
                <a:latin typeface="Calibri"/>
                <a:cs typeface="Calibri"/>
              </a:rPr>
              <a:t> demo connects the pipeline</a:t>
            </a:r>
            <a:endParaRPr sz="1150" dirty="0">
              <a:solidFill>
                <a:srgbClr val="475569"/>
              </a:solidFill>
              <a:latin typeface="Calibri"/>
              <a:cs typeface="Calibri"/>
              <a:sym typeface="Calibri"/>
            </a:endParaRPr>
          </a:p>
        </p:txBody>
      </p:sp>
      <p:sp>
        <p:nvSpPr>
          <p:cNvPr id="254" name="Google Shape;254;p14"/>
          <p:cNvSpPr/>
          <p:nvPr/>
        </p:nvSpPr>
        <p:spPr>
          <a:xfrm>
            <a:off x="6217920" y="4709160"/>
            <a:ext cx="5577840" cy="178308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CADCF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4"/>
          <p:cNvSpPr/>
          <p:nvPr/>
        </p:nvSpPr>
        <p:spPr>
          <a:xfrm>
            <a:off x="6217920" y="4709160"/>
            <a:ext cx="91440" cy="1783080"/>
          </a:xfrm>
          <a:prstGeom prst="rect">
            <a:avLst/>
          </a:prstGeom>
          <a:solidFill>
            <a:srgbClr val="F96167"/>
          </a:solidFill>
          <a:ln w="12700" cap="flat" cmpd="sng">
            <a:solidFill>
              <a:srgbClr val="F961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4"/>
          <p:cNvSpPr/>
          <p:nvPr/>
        </p:nvSpPr>
        <p:spPr>
          <a:xfrm>
            <a:off x="6492240" y="4754880"/>
            <a:ext cx="51206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What's still open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4"/>
          <p:cNvSpPr/>
          <p:nvPr/>
        </p:nvSpPr>
        <p:spPr>
          <a:xfrm>
            <a:off x="6492240" y="5074920"/>
            <a:ext cx="512064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Calibri"/>
              <a:buChar char="•"/>
            </a:pPr>
            <a:r>
              <a:rPr lang="en-US" sz="1150" b="0" i="0" u="none" strike="noStrike" cap="none" dirty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No classical baseline (</a:t>
            </a:r>
            <a:r>
              <a:rPr lang="en-US" sz="1150" b="0" i="0" u="none" strike="noStrike" cap="none" dirty="0" err="1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LogReg</a:t>
            </a:r>
            <a:r>
              <a:rPr lang="en-US" sz="1150" b="0" i="0" u="none" strike="noStrike" cap="none" dirty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 + TF-IDF) for Task 1</a:t>
            </a: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lvl="0" indent="-342900">
              <a:spcBef>
                <a:spcPts val="400"/>
              </a:spcBef>
              <a:buClr>
                <a:srgbClr val="475569"/>
              </a:buClr>
              <a:buSzPts val="1150"/>
              <a:buFont typeface="Calibri"/>
              <a:buChar char="•"/>
            </a:pPr>
            <a:r>
              <a:rPr lang="en-US" sz="1150" b="0" i="0" u="none" strike="noStrike" cap="none" dirty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ROUGE alone doesn't capture article </a:t>
            </a:r>
            <a:r>
              <a:rPr lang="en-US" sz="1150" dirty="0">
                <a:solidFill>
                  <a:srgbClr val="475569"/>
                </a:solidFill>
                <a:latin typeface="Calibri"/>
                <a:cs typeface="Calibri"/>
                <a:sym typeface="Calibri"/>
              </a:rPr>
              <a:t>quality (</a:t>
            </a:r>
            <a:r>
              <a:rPr lang="en-US" sz="1150" dirty="0">
                <a:solidFill>
                  <a:srgbClr val="475569"/>
                </a:solidFill>
                <a:latin typeface="Calibri"/>
                <a:cs typeface="Calibri"/>
              </a:rPr>
              <a:t>Manual article review still matters)</a:t>
            </a:r>
            <a:endParaRPr sz="1150" dirty="0">
              <a:solidFill>
                <a:srgbClr val="475569"/>
              </a:solidFill>
              <a:latin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475569"/>
              </a:buClr>
              <a:buSzPts val="1150"/>
              <a:buFont typeface="Calibri"/>
              <a:buChar char="•"/>
            </a:pPr>
            <a:r>
              <a:rPr lang="en-US" sz="1150" b="0" i="0" u="none" strike="noStrike" cap="none" dirty="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Self-distillation can amplify base-model bias</a:t>
            </a:r>
            <a:endParaRPr sz="11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4"/>
          <p:cNvSpPr/>
          <p:nvPr/>
        </p:nvSpPr>
        <p:spPr>
          <a:xfrm>
            <a:off x="365760" y="4069080"/>
            <a:ext cx="11430000" cy="457200"/>
          </a:xfrm>
          <a:prstGeom prst="roundRect">
            <a:avLst>
              <a:gd name="adj" fmla="val 20000"/>
            </a:avLst>
          </a:prstGeom>
          <a:solidFill>
            <a:srgbClr val="F9E795"/>
          </a:solidFill>
          <a:ln w="12700" cap="flat" cmpd="sng">
            <a:solidFill>
              <a:srgbClr val="F9E79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4"/>
          <p:cNvSpPr/>
          <p:nvPr/>
        </p:nvSpPr>
        <p:spPr>
          <a:xfrm>
            <a:off x="0" y="6629400"/>
            <a:ext cx="12161520" cy="228600"/>
          </a:xfrm>
          <a:prstGeom prst="rect">
            <a:avLst/>
          </a:prstGeom>
          <a:solidFill>
            <a:srgbClr val="1E2761"/>
          </a:solidFill>
          <a:ln w="12700" cap="flat" cmpd="sng">
            <a:solidFill>
              <a:srgbClr val="1E276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4"/>
          <p:cNvSpPr/>
          <p:nvPr/>
        </p:nvSpPr>
        <p:spPr>
          <a:xfrm>
            <a:off x="10972800" y="6647688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11 / 12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BC7A3D1-C214-57E0-8CBE-3BDE1A66CC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23871"/>
            <a:ext cx="11338560" cy="256232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565</Words>
  <Application>Microsoft Macintosh PowerPoint</Application>
  <PresentationFormat>Widescreen</PresentationFormat>
  <Paragraphs>142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Harn Zhin Chong</cp:lastModifiedBy>
  <cp:revision>4</cp:revision>
  <dcterms:modified xsi:type="dcterms:W3CDTF">2026-05-08T13:33:00Z</dcterms:modified>
</cp:coreProperties>
</file>